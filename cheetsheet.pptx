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</p:sldIdLst>
  <p:sldSz cx="9903460" cy="6858000" type="A4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6A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7950" y="1122363"/>
            <a:ext cx="74277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950" y="3602038"/>
            <a:ext cx="74277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715" y="1709738"/>
            <a:ext cx="854185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15" y="4589463"/>
            <a:ext cx="854185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180" y="1600200"/>
            <a:ext cx="4367488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932" y="1600200"/>
            <a:ext cx="4367488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62" y="365125"/>
            <a:ext cx="8541855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162" y="1681163"/>
            <a:ext cx="4189686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162" y="2505075"/>
            <a:ext cx="418968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3698" y="1681163"/>
            <a:ext cx="421032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3698" y="2505075"/>
            <a:ext cx="421032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62" y="457200"/>
            <a:ext cx="319416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0320" y="987425"/>
            <a:ext cx="5013698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62" y="2057400"/>
            <a:ext cx="319416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62" y="457200"/>
            <a:ext cx="319416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0320" y="987425"/>
            <a:ext cx="5013698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162" y="2057400"/>
            <a:ext cx="319416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0110" y="274638"/>
            <a:ext cx="222831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180" y="274638"/>
            <a:ext cx="6555752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95180" y="274638"/>
            <a:ext cx="891324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95180" y="1600200"/>
            <a:ext cx="891324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95180" y="6245225"/>
            <a:ext cx="231084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383730" y="6245225"/>
            <a:ext cx="313614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7097580" y="6245225"/>
            <a:ext cx="231084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5358130" y="3171825"/>
            <a:ext cx="4350385" cy="40576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anchor="b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5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altLang="en-GB" sz="1600" b="1" dirty="0">
                <a:solidFill>
                  <a:schemeClr val="tx1"/>
                </a:solidFill>
              </a:rPr>
              <a:t>CCNA Routing &amp; Switching — Cheat Sheet</a:t>
            </a:r>
            <a:endParaRPr lang="en-US" altLang="en-GB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404754" y="432400"/>
          <a:ext cx="4547870" cy="626237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{616DA210-FB5B-4158-B5E0-FEB733F419BA}</a:tableStyleId>
              </a:tblPr>
              <a:tblGrid>
                <a:gridCol w="2273935"/>
                <a:gridCol w="2273935"/>
              </a:tblGrid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 b="1"/>
                        <a:t>Lệnh / Thao tác</a:t>
                      </a:r>
                      <a:endParaRPr sz="1000" b="1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 b="1"/>
                        <a:t>Công dụng ngắn gọn</a:t>
                      </a:r>
                      <a:endParaRPr sz="1000" b="1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enable / disable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Vào/thoát Privileged mode (# / &gt;)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exit / logout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Thoát CLI hoặc mode hiện tại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?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Hiển thị lệnh khả dụng ở mode hiện tại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running-config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Xem cấu hình đang chạy (RAM)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startup-config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Xem cấu hình lưu (NVRAM)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26162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copy running-config startup-config (copy run start)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Lưu cấu hình hiện tại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erase startup-config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Xoá cấu hình lưu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reload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Khởi động lại thiết bị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configure terminal / conf t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Vào Global Configuration mode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hostname &lt;Tên&gt;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Đặt tên thiết bị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banner motd # &lt;TEXt&gt; #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Thông báo khi login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enable password &lt;pw&gt;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Mật khẩu (cleartext) vào privileged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enable secret &lt;pw&gt;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Mật khẩu (được mã hoá) vào privileged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interface fa0/0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Vào cấu hình interface Fa0/0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ip address &lt;IP&gt; &lt;MASK&gt;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Gán địa chỉ IP cho interface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no shutdown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Kích hoạt interface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shutdown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Tắt interface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description &lt;text&gt;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Ghi chú interface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ip int brief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Tóm tắt trạng thái IP và interface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interfaces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Thông tin chi tiết interface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version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Thông tin phần cứng / IOS / uptime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protocols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Trạng thái protocol trên router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arp / clear arp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Xem / xoá bảng ARP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ping &lt;IP&gt;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Kiểm tra kết nối ICMP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traceroute &lt;IP&gt; (or tracert)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Xác định đường đi gói tin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cdp neighbors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Xem thiết bị Cisco kề nhau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cdp neighbors detail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Chi tiết neighbor (IP, IOS, platform)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no cdp run / cdp run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Tắt / bật CDP toàn router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no cdp enable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Tắt CDP trên 1 interface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`ip route &lt;next-hop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exit-int&gt;`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router rip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Vào chế độ RIP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router eigrp &lt;AS&gt;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Vào chế độ EIGRP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router ospf &lt;process-id&gt;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Vào chế độ OSPF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142875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network &lt;net&gt; (trong router mode)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Quảng bá mạng cho RIP/EIGRP</a:t>
                      </a:r>
                      <a:endParaRPr sz="1000"/>
                    </a:p>
                  </a:txBody>
                  <a:tcPr marL="7737" marR="7737" marT="7737" marB="7737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2"/>
            </p:custDataLst>
          </p:nvPr>
        </p:nvGraphicFramePr>
        <p:xfrm>
          <a:off x="5240020" y="432435"/>
          <a:ext cx="4586605" cy="2514600"/>
        </p:xfrm>
        <a:graphic>
          <a:graphicData uri="http://schemas.openxmlformats.org/drawingml/2006/table">
            <a:tbl>
              <a:tblPr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tableStyleId>{616DA210-FB5B-4158-B5E0-FEB733F419BA}</a:tableStyleId>
              </a:tblPr>
              <a:tblGrid>
                <a:gridCol w="2579370"/>
                <a:gridCol w="2007235"/>
              </a:tblGrid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 b="1"/>
                        <a:t>Lệnh / Thao tác</a:t>
                      </a:r>
                      <a:endParaRPr sz="1000" b="1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 b="1"/>
                        <a:t>Công dụng ngắn gọn</a:t>
                      </a:r>
                      <a:endParaRPr sz="1000" b="1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network &lt;net&gt; &lt;wildcard&gt; area &lt;x&gt; (OSPF)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Quảng bá mạng cho OSPF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ip route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Xem bảng định tuyến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ip protocols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Thông tin giao thức định tuyến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debug ip rip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Debug RIP (thận trọng)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vlan &lt;ID&gt; ; name &lt;TÊN&gt;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Tạo VLAN &amp; đặt tên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interface fa0/1 (switch)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Vào config port switch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switchport mode access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Đặt port access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switchport access vlan &lt;ID&gt;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Gán port vào VLAN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vlan brief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Danh sách VLAN tóm tắt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show mac address-table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Bảng MAC trên switch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access-list &lt;num&gt; permit/deny ...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Tạo standard/extended ACL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ip access-group &lt;num&gt; in/out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Gắn ACL vào interface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username &lt;user&gt; password &lt;pw&gt;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Tạo user cục bộ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  <a:tr h="139700"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line vty 0 4 ; login local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27305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000"/>
                        <a:t>Cấu hình telnet/ssh login</a:t>
                      </a:r>
                      <a:endParaRPr sz="1000"/>
                    </a:p>
                  </a:txBody>
                  <a:tcPr marL="7737" marR="7737" marT="7737" marB="7737" anchor="ctr" anchorCtr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Text Box 15"/>
          <p:cNvSpPr txBox="1"/>
          <p:nvPr/>
        </p:nvSpPr>
        <p:spPr>
          <a:xfrm>
            <a:off x="5358765" y="3802380"/>
            <a:ext cx="4349750" cy="27070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altLang="en-GB" sz="1000" b="1" u="sng">
                <a:solidFill>
                  <a:schemeClr val="tx1"/>
                </a:solidFill>
                <a:sym typeface="+mn-ea"/>
              </a:rPr>
              <a:t>PC / Laptop:</a:t>
            </a:r>
            <a:endParaRPr lang="en-US" altLang="en-GB" sz="1000" b="1" u="sng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  <a:sym typeface="+mn-ea"/>
              </a:rPr>
              <a:t>Mở icon PC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Desktop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IP Configuration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đ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iền IP, Subnet Mask, Default Gateway.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  <a:sym typeface="+mn-ea"/>
              </a:rPr>
              <a:t>Desktop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Command Prompt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đ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ể chạy ping, tracert, telnet.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tx1"/>
                </a:solidFill>
                <a:sym typeface="+mn-ea"/>
              </a:rPr>
              <a:t>Đ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ối với Wireless: Physical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th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o card Ethernet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gắn Wireless card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Desktop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PC Wireless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connect.</a:t>
            </a:r>
            <a:endParaRPr lang="en-US" altLang="en-GB" sz="1000">
              <a:solidFill>
                <a:schemeClr val="tx1"/>
              </a:solidFill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1000" b="1" u="sng">
                <a:solidFill>
                  <a:schemeClr val="tx1"/>
                </a:solidFill>
                <a:sym typeface="+mn-ea"/>
              </a:rPr>
              <a:t>Server:</a:t>
            </a:r>
            <a:endParaRPr lang="en-US" altLang="en-GB" sz="1000" b="1" u="sng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  <a:sym typeface="+mn-ea"/>
              </a:rPr>
              <a:t>Click server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Config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FastEthernet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g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á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n IP.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  <a:sym typeface="+mn-ea"/>
              </a:rPr>
              <a:t>Config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Services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bật HTTP, DNS, DHCP… kiểm tra bằng Web Browser tr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ê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n PC.</a:t>
            </a:r>
            <a:endParaRPr lang="en-US" altLang="en-GB" sz="1000">
              <a:solidFill>
                <a:schemeClr val="tx1"/>
              </a:solidFill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GB" sz="1000" b="1" u="sng">
                <a:solidFill>
                  <a:schemeClr val="tx1"/>
                </a:solidFill>
                <a:sym typeface="+mn-ea"/>
              </a:rPr>
              <a:t>Router:</a:t>
            </a:r>
            <a:endParaRPr lang="en-US" altLang="en-GB" sz="1000" b="1" u="sng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  <a:sym typeface="+mn-ea"/>
              </a:rPr>
              <a:t>Click Router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console/CLI: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  <a:sym typeface="+mn-ea"/>
              </a:rPr>
              <a:t>enable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  <a:sym typeface="+mn-ea"/>
              </a:rPr>
              <a:t>conf t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  <a:sym typeface="+mn-ea"/>
              </a:rPr>
              <a:t>hostname R1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  <a:sym typeface="+mn-ea"/>
              </a:rPr>
              <a:t>int fa0/0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ip address 10.1.1.1 255.255.255.0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no shutdown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  <a:sym typeface="+mn-ea"/>
              </a:rPr>
              <a:t>exit </a:t>
            </a:r>
            <a:r>
              <a:rPr lang="en-US" altLang="en-US" sz="1000">
                <a:solidFill>
                  <a:schemeClr val="tx1"/>
                </a:solidFill>
                <a:sym typeface="+mn-ea"/>
              </a:rPr>
              <a:t>→</a:t>
            </a:r>
            <a:r>
              <a:rPr lang="en-US" altLang="en-GB" sz="1000">
                <a:solidFill>
                  <a:schemeClr val="tx1"/>
                </a:solidFill>
                <a:sym typeface="+mn-ea"/>
              </a:rPr>
              <a:t> copy run start</a:t>
            </a:r>
            <a:endParaRPr lang="en-US" altLang="en-GB" sz="1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14"/>
          <p:cNvSpPr txBox="1"/>
          <p:nvPr/>
        </p:nvSpPr>
        <p:spPr>
          <a:xfrm>
            <a:off x="405130" y="347345"/>
            <a:ext cx="4714875" cy="353441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en-GB" sz="1000" b="1" u="sng">
                <a:solidFill>
                  <a:schemeClr val="tx1"/>
                </a:solidFill>
              </a:rPr>
              <a:t>Switch:</a:t>
            </a:r>
            <a:endParaRPr lang="en-US" altLang="en-GB" sz="1000" b="1" u="sng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enable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conf t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Tạo VLAN: vlan 10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name Sales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G</a:t>
            </a:r>
            <a:r>
              <a:rPr lang="en-US" altLang="en-US" sz="1000">
                <a:solidFill>
                  <a:schemeClr val="tx1"/>
                </a:solidFill>
              </a:rPr>
              <a:t>á</a:t>
            </a:r>
            <a:r>
              <a:rPr lang="en-US" altLang="en-GB" sz="1000">
                <a:solidFill>
                  <a:schemeClr val="tx1"/>
                </a:solidFill>
              </a:rPr>
              <a:t>n port: int fa0/1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switchport mode access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switchport access vlan 10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L</a:t>
            </a:r>
            <a:r>
              <a:rPr lang="en-US" altLang="en-US" sz="1000">
                <a:solidFill>
                  <a:schemeClr val="tx1"/>
                </a:solidFill>
              </a:rPr>
              <a:t>ư</a:t>
            </a:r>
            <a:r>
              <a:rPr lang="en-US" altLang="en-GB" sz="1000">
                <a:solidFill>
                  <a:schemeClr val="tx1"/>
                </a:solidFill>
              </a:rPr>
              <a:t>u: copy run start</a:t>
            </a:r>
            <a:endParaRPr lang="en-US" altLang="en-GB" sz="1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GB" sz="1000" b="1" u="sng">
                <a:solidFill>
                  <a:schemeClr val="tx1"/>
                </a:solidFill>
              </a:rPr>
              <a:t>Cloud / ISP (mô phỏng Internet):</a:t>
            </a:r>
            <a:endParaRPr lang="en-US" altLang="en-GB" sz="1000" b="1" u="sng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Th</a:t>
            </a:r>
            <a:r>
              <a:rPr lang="en-US" altLang="en-US" sz="1000">
                <a:solidFill>
                  <a:schemeClr val="tx1"/>
                </a:solidFill>
              </a:rPr>
              <a:t>ê</a:t>
            </a:r>
            <a:r>
              <a:rPr lang="en-US" altLang="en-GB" sz="1000">
                <a:solidFill>
                  <a:schemeClr val="tx1"/>
                </a:solidFill>
              </a:rPr>
              <a:t>m Cloud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cấu h</a:t>
            </a:r>
            <a:r>
              <a:rPr lang="en-US" altLang="en-US" sz="1000">
                <a:solidFill>
                  <a:schemeClr val="tx1"/>
                </a:solidFill>
              </a:rPr>
              <a:t>ì</a:t>
            </a:r>
            <a:r>
              <a:rPr lang="en-US" altLang="en-GB" sz="1000">
                <a:solidFill>
                  <a:schemeClr val="tx1"/>
                </a:solidFill>
              </a:rPr>
              <a:t>nh FastEthernet/Serial IP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d</a:t>
            </a:r>
            <a:r>
              <a:rPr lang="en-US" altLang="en-US" sz="1000">
                <a:solidFill>
                  <a:schemeClr val="tx1"/>
                </a:solidFill>
              </a:rPr>
              <a:t>ù</a:t>
            </a:r>
            <a:r>
              <a:rPr lang="en-US" altLang="en-GB" sz="1000">
                <a:solidFill>
                  <a:schemeClr val="tx1"/>
                </a:solidFill>
              </a:rPr>
              <a:t>ng làm gateway ra WAN.</a:t>
            </a:r>
            <a:endParaRPr lang="en-US" altLang="en-GB" sz="1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GB" sz="1000" b="1" u="sng">
                <a:solidFill>
                  <a:schemeClr val="tx1"/>
                </a:solidFill>
              </a:rPr>
              <a:t>Mô h</a:t>
            </a:r>
            <a:r>
              <a:rPr lang="en-US" altLang="en-US" sz="1000" b="1" u="sng">
                <a:solidFill>
                  <a:schemeClr val="tx1"/>
                </a:solidFill>
              </a:rPr>
              <a:t>ì</a:t>
            </a:r>
            <a:r>
              <a:rPr lang="en-US" altLang="en-GB" sz="1000" b="1" u="sng">
                <a:solidFill>
                  <a:schemeClr val="tx1"/>
                </a:solidFill>
              </a:rPr>
              <a:t>nh LAN c</a:t>
            </a:r>
            <a:r>
              <a:rPr lang="en-US" altLang="en-US" sz="1000" b="1" u="sng">
                <a:solidFill>
                  <a:schemeClr val="tx1"/>
                </a:solidFill>
              </a:rPr>
              <a:t>ơ</a:t>
            </a:r>
            <a:r>
              <a:rPr lang="en-US" altLang="en-GB" sz="1000" b="1" u="sng">
                <a:solidFill>
                  <a:schemeClr val="tx1"/>
                </a:solidFill>
              </a:rPr>
              <a:t> bản — b</a:t>
            </a:r>
            <a:r>
              <a:rPr lang="en-US" altLang="en-US" sz="1000" b="1" u="sng">
                <a:solidFill>
                  <a:schemeClr val="tx1"/>
                </a:solidFill>
              </a:rPr>
              <a:t>ư</a:t>
            </a:r>
            <a:r>
              <a:rPr lang="en-US" altLang="en-GB" sz="1000" b="1" u="sng">
                <a:solidFill>
                  <a:schemeClr val="tx1"/>
                </a:solidFill>
              </a:rPr>
              <a:t>ớc tổng qu</a:t>
            </a:r>
            <a:r>
              <a:rPr lang="en-US" altLang="en-US" sz="1000" b="1" u="sng">
                <a:solidFill>
                  <a:schemeClr val="tx1"/>
                </a:solidFill>
              </a:rPr>
              <a:t>á</a:t>
            </a:r>
            <a:r>
              <a:rPr lang="en-US" altLang="en-GB" sz="1000" b="1" u="sng">
                <a:solidFill>
                  <a:schemeClr val="tx1"/>
                </a:solidFill>
              </a:rPr>
              <a:t>t:</a:t>
            </a:r>
            <a:endParaRPr lang="en-US" altLang="en-GB" sz="1000" b="1" u="sng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K</a:t>
            </a:r>
            <a:r>
              <a:rPr lang="en-US" altLang="en-US" sz="1000">
                <a:solidFill>
                  <a:schemeClr val="tx1"/>
                </a:solidFill>
              </a:rPr>
              <a:t>é</a:t>
            </a:r>
            <a:r>
              <a:rPr lang="en-US" altLang="en-GB" sz="1000">
                <a:solidFill>
                  <a:schemeClr val="tx1"/>
                </a:solidFill>
              </a:rPr>
              <a:t>o: Router </a:t>
            </a:r>
            <a:r>
              <a:rPr lang="en-US" altLang="en-US" sz="1000">
                <a:solidFill>
                  <a:schemeClr val="tx1"/>
                </a:solidFill>
              </a:rPr>
              <a:t>←→</a:t>
            </a:r>
            <a:r>
              <a:rPr lang="en-US" altLang="en-GB" sz="1000">
                <a:solidFill>
                  <a:schemeClr val="tx1"/>
                </a:solidFill>
              </a:rPr>
              <a:t> Switch </a:t>
            </a:r>
            <a:r>
              <a:rPr lang="en-US" altLang="en-US" sz="1000">
                <a:solidFill>
                  <a:schemeClr val="tx1"/>
                </a:solidFill>
              </a:rPr>
              <a:t>←→</a:t>
            </a:r>
            <a:r>
              <a:rPr lang="en-US" altLang="en-GB" sz="1000">
                <a:solidFill>
                  <a:schemeClr val="tx1"/>
                </a:solidFill>
              </a:rPr>
              <a:t> PC/Server.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D</a:t>
            </a:r>
            <a:r>
              <a:rPr lang="en-US" altLang="en-US" sz="1000">
                <a:solidFill>
                  <a:schemeClr val="tx1"/>
                </a:solidFill>
              </a:rPr>
              <a:t>ù</a:t>
            </a:r>
            <a:r>
              <a:rPr lang="en-US" altLang="en-GB" sz="1000">
                <a:solidFill>
                  <a:schemeClr val="tx1"/>
                </a:solidFill>
              </a:rPr>
              <a:t>ng c</a:t>
            </a:r>
            <a:r>
              <a:rPr lang="en-US" altLang="en-US" sz="1000">
                <a:solidFill>
                  <a:schemeClr val="tx1"/>
                </a:solidFill>
              </a:rPr>
              <a:t>á</a:t>
            </a:r>
            <a:r>
              <a:rPr lang="en-US" altLang="en-GB" sz="1000">
                <a:solidFill>
                  <a:schemeClr val="tx1"/>
                </a:solidFill>
              </a:rPr>
              <a:t>p thẳng: PC </a:t>
            </a:r>
            <a:r>
              <a:rPr lang="en-US" altLang="en-US" sz="1000">
                <a:solidFill>
                  <a:schemeClr val="tx1"/>
                </a:solidFill>
              </a:rPr>
              <a:t>↔</a:t>
            </a:r>
            <a:r>
              <a:rPr lang="en-US" altLang="en-GB" sz="1000">
                <a:solidFill>
                  <a:schemeClr val="tx1"/>
                </a:solidFill>
              </a:rPr>
              <a:t> Switch ; Switch </a:t>
            </a:r>
            <a:r>
              <a:rPr lang="en-US" altLang="en-US" sz="1000">
                <a:solidFill>
                  <a:schemeClr val="tx1"/>
                </a:solidFill>
              </a:rPr>
              <a:t>↔</a:t>
            </a:r>
            <a:r>
              <a:rPr lang="en-US" altLang="en-GB" sz="1000">
                <a:solidFill>
                  <a:schemeClr val="tx1"/>
                </a:solidFill>
              </a:rPr>
              <a:t> Router. D</a:t>
            </a:r>
            <a:r>
              <a:rPr lang="en-US" altLang="en-US" sz="1000">
                <a:solidFill>
                  <a:schemeClr val="tx1"/>
                </a:solidFill>
              </a:rPr>
              <a:t>ù</a:t>
            </a:r>
            <a:r>
              <a:rPr lang="en-US" altLang="en-GB" sz="1000">
                <a:solidFill>
                  <a:schemeClr val="tx1"/>
                </a:solidFill>
              </a:rPr>
              <a:t>ng c</a:t>
            </a:r>
            <a:r>
              <a:rPr lang="en-US" altLang="en-US" sz="1000">
                <a:solidFill>
                  <a:schemeClr val="tx1"/>
                </a:solidFill>
              </a:rPr>
              <a:t>á</a:t>
            </a:r>
            <a:r>
              <a:rPr lang="en-US" altLang="en-GB" sz="1000">
                <a:solidFill>
                  <a:schemeClr val="tx1"/>
                </a:solidFill>
              </a:rPr>
              <a:t>p Serial: Router </a:t>
            </a:r>
            <a:r>
              <a:rPr lang="en-US" altLang="en-US" sz="1000">
                <a:solidFill>
                  <a:schemeClr val="tx1"/>
                </a:solidFill>
              </a:rPr>
              <a:t>↔</a:t>
            </a:r>
            <a:r>
              <a:rPr lang="en-US" altLang="en-GB" sz="1000">
                <a:solidFill>
                  <a:schemeClr val="tx1"/>
                </a:solidFill>
              </a:rPr>
              <a:t> Router.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G</a:t>
            </a:r>
            <a:r>
              <a:rPr lang="en-US" altLang="en-US" sz="1000">
                <a:solidFill>
                  <a:schemeClr val="tx1"/>
                </a:solidFill>
              </a:rPr>
              <a:t>á</a:t>
            </a:r>
            <a:r>
              <a:rPr lang="en-US" altLang="en-GB" sz="1000">
                <a:solidFill>
                  <a:schemeClr val="tx1"/>
                </a:solidFill>
              </a:rPr>
              <a:t>n IP cho tất cả endpoint và interfaces.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no shutdown c</a:t>
            </a:r>
            <a:r>
              <a:rPr lang="en-US" altLang="en-US" sz="1000">
                <a:solidFill>
                  <a:schemeClr val="tx1"/>
                </a:solidFill>
              </a:rPr>
              <a:t>á</a:t>
            </a:r>
            <a:r>
              <a:rPr lang="en-US" altLang="en-GB" sz="1000">
                <a:solidFill>
                  <a:schemeClr val="tx1"/>
                </a:solidFill>
              </a:rPr>
              <a:t>c interface.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Test: PC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ping default-gateway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ping tới server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ping giữa router.</a:t>
            </a:r>
            <a:endParaRPr lang="en-US" altLang="en-GB" sz="100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358130" y="347980"/>
            <a:ext cx="4343400" cy="10147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marL="171450" indent="-171450"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 sz="1000">
                <a:solidFill>
                  <a:schemeClr val="tx1"/>
                </a:solidFill>
              </a:rPr>
              <a:t>IP là 32-bit (4 octet).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 sz="1000">
                <a:solidFill>
                  <a:schemeClr val="tx1"/>
                </a:solidFill>
              </a:rPr>
              <a:t>Netmask (subnet mask) phủ bit mạng = 1 và bit host = 0.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 sz="1000">
                <a:solidFill>
                  <a:schemeClr val="tx1"/>
                </a:solidFill>
              </a:rPr>
              <a:t>CIDR: v</a:t>
            </a:r>
            <a:r>
              <a:rPr lang="en-US" altLang="en-US" sz="1000">
                <a:solidFill>
                  <a:schemeClr val="tx1"/>
                </a:solidFill>
              </a:rPr>
              <a:t>í</a:t>
            </a:r>
            <a:r>
              <a:rPr lang="en-US" altLang="en-GB" sz="1000">
                <a:solidFill>
                  <a:schemeClr val="tx1"/>
                </a:solidFill>
              </a:rPr>
              <a:t> dụ /24 ngh</a:t>
            </a:r>
            <a:r>
              <a:rPr lang="en-US" altLang="en-US" sz="1000">
                <a:solidFill>
                  <a:schemeClr val="tx1"/>
                </a:solidFill>
              </a:rPr>
              <a:t>ĩ</a:t>
            </a:r>
            <a:r>
              <a:rPr lang="en-US" altLang="en-GB" sz="1000">
                <a:solidFill>
                  <a:schemeClr val="tx1"/>
                </a:solidFill>
              </a:rPr>
              <a:t>a là 24 bit mạng, 8 bit host.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o"/>
            </a:pPr>
            <a:r>
              <a:rPr lang="en-US" altLang="en-GB" sz="1000">
                <a:solidFill>
                  <a:schemeClr val="tx1"/>
                </a:solidFill>
              </a:rPr>
              <a:t>Wildcard mask = 255.255.255.255 - subnet mask (bit </a:t>
            </a:r>
            <a:r>
              <a:rPr lang="en-US" altLang="en-US" sz="1000">
                <a:solidFill>
                  <a:schemeClr val="tx1"/>
                </a:solidFill>
              </a:rPr>
              <a:t>đ</a:t>
            </a:r>
            <a:r>
              <a:rPr lang="en-US" altLang="en-GB" sz="1000">
                <a:solidFill>
                  <a:schemeClr val="tx1"/>
                </a:solidFill>
              </a:rPr>
              <a:t>ảo).</a:t>
            </a:r>
            <a:endParaRPr lang="en-US" altLang="en-GB" sz="1000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58130" y="1720850"/>
            <a:ext cx="4343400" cy="17068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en-GB" sz="1000">
                <a:solidFill>
                  <a:schemeClr val="tx1"/>
                </a:solidFill>
              </a:rPr>
              <a:t>Số host khả dụng = 2^(32 - prefix) - 2 (trừ network &amp; broadcast).</a:t>
            </a:r>
            <a:endParaRPr lang="en-US" altLang="en-GB" sz="1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GB" sz="1000">
                <a:solidFill>
                  <a:schemeClr val="tx1"/>
                </a:solidFill>
              </a:rPr>
              <a:t>Block size (increment) cho octet chứa bit subnet cuối = 256 - (gi</a:t>
            </a:r>
            <a:r>
              <a:rPr lang="en-US" altLang="en-US" sz="1000">
                <a:solidFill>
                  <a:schemeClr val="tx1"/>
                </a:solidFill>
              </a:rPr>
              <a:t>á</a:t>
            </a:r>
            <a:r>
              <a:rPr lang="en-US" altLang="en-GB" sz="1000">
                <a:solidFill>
                  <a:schemeClr val="tx1"/>
                </a:solidFill>
              </a:rPr>
              <a:t> trị octet mask)</a:t>
            </a:r>
            <a:endParaRPr lang="en-US" altLang="en-GB" sz="1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GB" sz="1000">
                <a:solidFill>
                  <a:schemeClr val="tx1"/>
                </a:solidFill>
              </a:rPr>
              <a:t>Network address = IP &amp; subnet-mask (AND bitwise).</a:t>
            </a:r>
            <a:endParaRPr lang="en-US" altLang="en-GB" sz="1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GB" sz="1000">
                <a:solidFill>
                  <a:schemeClr val="tx1"/>
                </a:solidFill>
              </a:rPr>
              <a:t>Broadcast address = Network address | wildcard (OR bitwise) hoặc network + block_size - 1 ở octet t</a:t>
            </a:r>
            <a:r>
              <a:rPr lang="en-US" altLang="en-US" sz="1000">
                <a:solidFill>
                  <a:schemeClr val="tx1"/>
                </a:solidFill>
              </a:rPr>
              <a:t>ư</a:t>
            </a:r>
            <a:r>
              <a:rPr lang="en-US" altLang="en-US" sz="1000">
                <a:solidFill>
                  <a:schemeClr val="tx1"/>
                </a:solidFill>
              </a:rPr>
              <a:t>ơ</a:t>
            </a:r>
            <a:r>
              <a:rPr lang="en-US" altLang="en-GB" sz="1000">
                <a:solidFill>
                  <a:schemeClr val="tx1"/>
                </a:solidFill>
              </a:rPr>
              <a:t>ng ứng.</a:t>
            </a:r>
            <a:endParaRPr lang="en-US" altLang="en-GB" sz="10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GB" sz="1000">
                <a:solidFill>
                  <a:schemeClr val="tx1"/>
                </a:solidFill>
              </a:rPr>
              <a:t>Host range = network + 1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broadcast - 1.</a:t>
            </a:r>
            <a:endParaRPr lang="en-US" altLang="en-GB" sz="1000">
              <a:solidFill>
                <a:schemeClr val="tx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02590" y="4090035"/>
            <a:ext cx="4717415" cy="170688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/24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255.255.255.0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hosts = 254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block = 256 (subnet per network)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/25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255.255.255.128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hosts = 126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block = 128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/26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255.255.255.192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hosts = 62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block = 64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/27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255.255.255.224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hosts = 30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block = 32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/28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255.255.255.240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hosts = 14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block = 16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/29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255.255.255.248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hosts = 6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block = 8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/30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255.255.255.252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hosts = 2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block = 4</a:t>
            </a:r>
            <a:endParaRPr lang="en-US" altLang="en-GB" sz="1000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358130" y="3785870"/>
            <a:ext cx="4343400" cy="201104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en-GB" sz="1000" b="1" u="sng">
                <a:solidFill>
                  <a:schemeClr val="tx1"/>
                </a:solidFill>
              </a:rPr>
              <a:t>Ph</a:t>
            </a:r>
            <a:r>
              <a:rPr lang="en-US" altLang="en-US" sz="1000" b="1" u="sng">
                <a:solidFill>
                  <a:schemeClr val="tx1"/>
                </a:solidFill>
              </a:rPr>
              <a:t>ư</a:t>
            </a:r>
            <a:r>
              <a:rPr lang="en-US" altLang="en-US" sz="1000" b="1" u="sng">
                <a:solidFill>
                  <a:schemeClr val="tx1"/>
                </a:solidFill>
              </a:rPr>
              <a:t>ơ</a:t>
            </a:r>
            <a:r>
              <a:rPr lang="en-US" altLang="en-GB" sz="1000" b="1" u="sng">
                <a:solidFill>
                  <a:schemeClr val="tx1"/>
                </a:solidFill>
              </a:rPr>
              <a:t>ng ph</a:t>
            </a:r>
            <a:r>
              <a:rPr lang="en-US" altLang="en-US" sz="1000" b="1" u="sng">
                <a:solidFill>
                  <a:schemeClr val="tx1"/>
                </a:solidFill>
              </a:rPr>
              <a:t>á</a:t>
            </a:r>
            <a:r>
              <a:rPr lang="en-US" altLang="en-GB" sz="1000" b="1" u="sng">
                <a:solidFill>
                  <a:schemeClr val="tx1"/>
                </a:solidFill>
              </a:rPr>
              <a:t>p nhanh (3 b</a:t>
            </a:r>
            <a:r>
              <a:rPr lang="en-US" altLang="en-US" sz="1000" b="1" u="sng">
                <a:solidFill>
                  <a:schemeClr val="tx1"/>
                </a:solidFill>
              </a:rPr>
              <a:t>ư</a:t>
            </a:r>
            <a:r>
              <a:rPr lang="en-US" altLang="en-GB" sz="1000" b="1" u="sng">
                <a:solidFill>
                  <a:schemeClr val="tx1"/>
                </a:solidFill>
              </a:rPr>
              <a:t>ớc)</a:t>
            </a:r>
            <a:endParaRPr lang="en-US" altLang="en-GB" sz="1000" b="1" u="sng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X</a:t>
            </a:r>
            <a:r>
              <a:rPr lang="en-US" altLang="en-US" sz="1000">
                <a:solidFill>
                  <a:schemeClr val="tx1"/>
                </a:solidFill>
              </a:rPr>
              <a:t>á</a:t>
            </a:r>
            <a:r>
              <a:rPr lang="en-US" altLang="en-GB" sz="1000">
                <a:solidFill>
                  <a:schemeClr val="tx1"/>
                </a:solidFill>
              </a:rPr>
              <a:t>c </a:t>
            </a:r>
            <a:r>
              <a:rPr lang="en-US" altLang="en-US" sz="1000">
                <a:solidFill>
                  <a:schemeClr val="tx1"/>
                </a:solidFill>
              </a:rPr>
              <a:t>đ</a:t>
            </a:r>
            <a:r>
              <a:rPr lang="en-US" altLang="en-GB" sz="1000">
                <a:solidFill>
                  <a:schemeClr val="tx1"/>
                </a:solidFill>
              </a:rPr>
              <a:t>ịnh prefix (v</a:t>
            </a:r>
            <a:r>
              <a:rPr lang="en-US" altLang="en-US" sz="1000">
                <a:solidFill>
                  <a:schemeClr val="tx1"/>
                </a:solidFill>
              </a:rPr>
              <a:t>í</a:t>
            </a:r>
            <a:r>
              <a:rPr lang="en-US" altLang="en-GB" sz="1000">
                <a:solidFill>
                  <a:schemeClr val="tx1"/>
                </a:solidFill>
              </a:rPr>
              <a:t> dụ /26) </a:t>
            </a:r>
            <a:r>
              <a:rPr lang="en-US" altLang="en-US" sz="1000">
                <a:solidFill>
                  <a:schemeClr val="tx1"/>
                </a:solidFill>
              </a:rPr>
              <a:t>⇒</a:t>
            </a:r>
            <a:r>
              <a:rPr lang="en-US" altLang="en-GB" sz="1000">
                <a:solidFill>
                  <a:schemeClr val="tx1"/>
                </a:solidFill>
              </a:rPr>
              <a:t> t</a:t>
            </a:r>
            <a:r>
              <a:rPr lang="en-US" altLang="en-US" sz="1000">
                <a:solidFill>
                  <a:schemeClr val="tx1"/>
                </a:solidFill>
              </a:rPr>
              <a:t>ì</a:t>
            </a:r>
            <a:r>
              <a:rPr lang="en-US" altLang="en-GB" sz="1000">
                <a:solidFill>
                  <a:schemeClr val="tx1"/>
                </a:solidFill>
              </a:rPr>
              <a:t>m block size: 256 - mask_octet ở octet chứa host bits (v</a:t>
            </a:r>
            <a:r>
              <a:rPr lang="en-US" altLang="en-US" sz="1000">
                <a:solidFill>
                  <a:schemeClr val="tx1"/>
                </a:solidFill>
              </a:rPr>
              <a:t>í</a:t>
            </a:r>
            <a:r>
              <a:rPr lang="en-US" altLang="en-GB" sz="1000">
                <a:solidFill>
                  <a:schemeClr val="tx1"/>
                </a:solidFill>
              </a:rPr>
              <a:t> dụ /26 mask last octet = 192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256-192 = 64).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T</a:t>
            </a:r>
            <a:r>
              <a:rPr lang="en-US" altLang="en-US" sz="1000">
                <a:solidFill>
                  <a:schemeClr val="tx1"/>
                </a:solidFill>
              </a:rPr>
              <a:t>ì</a:t>
            </a:r>
            <a:r>
              <a:rPr lang="en-US" altLang="en-GB" sz="1000">
                <a:solidFill>
                  <a:schemeClr val="tx1"/>
                </a:solidFill>
              </a:rPr>
              <a:t>m network: chia gi</a:t>
            </a:r>
            <a:r>
              <a:rPr lang="en-US" altLang="en-US" sz="1000">
                <a:solidFill>
                  <a:schemeClr val="tx1"/>
                </a:solidFill>
              </a:rPr>
              <a:t>á</a:t>
            </a:r>
            <a:r>
              <a:rPr lang="en-US" altLang="en-GB" sz="1000">
                <a:solidFill>
                  <a:schemeClr val="tx1"/>
                </a:solidFill>
              </a:rPr>
              <a:t> trị của octet IP cho block size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lấy floor </a:t>
            </a:r>
            <a:r>
              <a:rPr lang="en-US" altLang="en-US" sz="1000">
                <a:solidFill>
                  <a:schemeClr val="tx1"/>
                </a:solidFill>
              </a:rPr>
              <a:t>×</a:t>
            </a:r>
            <a:r>
              <a:rPr lang="en-US" altLang="en-GB" sz="1000">
                <a:solidFill>
                  <a:schemeClr val="tx1"/>
                </a:solidFill>
              </a:rPr>
              <a:t> block size. (Nếu IP là 192.168.1.10 /26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last octet 10; 10 // 64 = 0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network last octet = 0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network = 192.168.1.0.)</a:t>
            </a:r>
            <a:endParaRPr lang="en-US" altLang="en-GB" sz="100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1000">
                <a:solidFill>
                  <a:schemeClr val="tx1"/>
                </a:solidFill>
              </a:rPr>
              <a:t>Broadcast = network + block_size - 1 (ở c</a:t>
            </a:r>
            <a:r>
              <a:rPr lang="en-US" altLang="en-US" sz="1000">
                <a:solidFill>
                  <a:schemeClr val="tx1"/>
                </a:solidFill>
              </a:rPr>
              <a:t>ù</a:t>
            </a:r>
            <a:r>
              <a:rPr lang="en-US" altLang="en-GB" sz="1000">
                <a:solidFill>
                  <a:schemeClr val="tx1"/>
                </a:solidFill>
              </a:rPr>
              <a:t>ng octet): 0 + 64 -1 = 63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192.168.1.63. Host range: 192.168.1.1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n-GB" sz="1000">
                <a:solidFill>
                  <a:schemeClr val="tx1"/>
                </a:solidFill>
              </a:rPr>
              <a:t> 192.168.1.62.</a:t>
            </a:r>
            <a:endParaRPr lang="en-US" altLang="en-GB" sz="1000">
              <a:solidFill>
                <a:schemeClr val="tx1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/>
        </p:nvSpPr>
        <p:spPr>
          <a:xfrm>
            <a:off x="2776538" y="6155055"/>
            <a:ext cx="4350385" cy="40576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anchor="b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5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altLang="en-GB" sz="1600" b="1" dirty="0">
                <a:solidFill>
                  <a:schemeClr val="tx1"/>
                </a:solidFill>
              </a:rPr>
              <a:t>Được thiết kế bởi Nguyễn Ngọc Hùng</a:t>
            </a:r>
            <a:endParaRPr lang="en-US" altLang="en-GB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40*510"/>
  <p:tag name="TABLE_ENDDRAG_RECT" val="0*30*440*510"/>
</p:tagLst>
</file>

<file path=ppt/tags/tag2.xml><?xml version="1.0" encoding="utf-8"?>
<p:tagLst xmlns:p="http://schemas.openxmlformats.org/presentationml/2006/main">
  <p:tag name="TABLE_ENDDRAG_ORIGIN_RECT" val="319*222"/>
  <p:tag name="TABLE_ENDDRAG_RECT" val="439*34*319*222"/>
</p:tagLst>
</file>

<file path=ppt/theme/theme1.xml><?xml version="1.0" encoding="utf-8"?>
<a:theme xmlns:a="http://schemas.openxmlformats.org/drawingml/2006/main" name="Default Design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4606</Words>
  <Application>WPS Presentation</Application>
  <PresentationFormat>Widescreen</PresentationFormat>
  <Paragraphs>257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Default Design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Tokagami Hùng</cp:lastModifiedBy>
  <cp:revision>11</cp:revision>
  <dcterms:created xsi:type="dcterms:W3CDTF">2025-09-02T07:55:00Z</dcterms:created>
  <dcterms:modified xsi:type="dcterms:W3CDTF">2025-09-02T13:25:39Z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B4ECF709AE1B4084A4E6DE90F2916096_13</vt:lpwstr>
  </property>
  <property fmtid="{D5CDD505-2E9C-101B-9397-08002B2CF9AE}" pid="3" name="KSOProductBuildVer">
    <vt:lpwstr>2057-12.2.0.21936</vt:lpwstr>
  </property>
</Properties>
</file>